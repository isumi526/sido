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06C755"/>
                </a:solidFill>
                <a:latin typeface="Hiragino Kaku Gothic ProN"/>
              </a:rPr>
              <a:t>GENLINKS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Hiragino Kaku Gothic ProN"/>
              </a:rPr>
              <a:t>内装施工の台帳を、まるごと自動化。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C2CBD6"/>
                </a:solidFill>
                <a:latin typeface="Hiragino Kaku Gothic ProN"/>
              </a:rPr>
              <a:t>職人は LINE で日報を出すだけ。原価・見積・請求・勤怠・工程まで一気通貫。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95A1"/>
                </a:solidFill>
                <a:latin typeface="Hiragino Kaku Gothic ProN"/>
              </a:rPr>
              <a:t>実装機能ガイド（営業用）｜ 実機コード監査ベース・本番稼働機能のみ掲載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AA5B1"/>
                </a:solidFill>
                <a:latin typeface="Hiragino Kaku Gothic ProN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3つの価値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62895" y="329184"/>
            <a:ext cx="1417320" cy="384048"/>
          </a:xfrm>
          <a:prstGeom prst="rect">
            <a:avLst/>
          </a:prstGeom>
          <a:solidFill>
            <a:srgbClr val="0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2895" y="365760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6C755"/>
                </a:solidFill>
                <a:latin typeface="Hiragino Kaku Gothic ProN"/>
              </a:rPr>
              <a:t>✓ 本番稼働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611880" cy="402336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3611880" cy="109728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Hiragino Kaku Gothic ProN"/>
              </a:rPr>
              <a:t>📲 入力は LINE だけ・AIが読み取り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31089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6070"/>
                </a:solidFill>
                <a:latin typeface="Hiragino Kaku Gothic ProN"/>
              </a:rPr>
              <a:t>職人はLINEで日報を出すだけ。領収書・請求書・価格表はAIが自動入力。現場の手間を最小化。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737360"/>
            <a:ext cx="3611880" cy="402336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737360"/>
            <a:ext cx="3611880" cy="109728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0312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Hiragino Kaku Gothic ProN"/>
              </a:rPr>
              <a:t>🔗 1つのデータで台帳が全部つながる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00400"/>
            <a:ext cx="31089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6070"/>
                </a:solidFill>
                <a:latin typeface="Hiragino Kaku Gothic ProN"/>
              </a:rPr>
              <a:t>日報→原価→現場別集計→請求が同じ数字。二重入力なし。バラバラだった台帳を1つに。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737360"/>
            <a:ext cx="3611880" cy="402336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737360"/>
            <a:ext cx="3611880" cy="109728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10312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Hiragino Kaku Gothic ProN"/>
              </a:rPr>
              <a:t>✉️ 取引のやり取りまで自動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00400"/>
            <a:ext cx="31089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6070"/>
                </a:solidFill>
                <a:latin typeface="Hiragino Kaku Gothic ProN"/>
              </a:rPr>
              <a:t>見積・発注・請求・督促をメール＆業者ポータルで。承諾は署名証跡つき。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AA5B1"/>
                </a:solidFill>
                <a:latin typeface="Hiragino Kaku Gothic ProN"/>
              </a:rPr>
              <a:t>日次管理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ダッシュボード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62895" y="329184"/>
            <a:ext cx="1417320" cy="384048"/>
          </a:xfrm>
          <a:prstGeom prst="rect">
            <a:avLst/>
          </a:prstGeom>
          <a:solidFill>
            <a:srgbClr val="0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2895" y="365760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6C755"/>
                </a:solidFill>
                <a:latin typeface="Hiragino Kaku Gothic ProN"/>
              </a:rPr>
              <a:t>✓ 本番稼働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56070"/>
                </a:solidFill>
                <a:latin typeface="Hiragino Kaku Gothic ProN"/>
              </a:rPr>
              <a:t>月次の経営数字を、開いた瞬間に。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原価カテゴリ別集計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社員・商社・業者・経費を月単位で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明細ドリルダウン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集計行クリックで日付・対象・金額まで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通常/残業/深夜の自動再計算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日報実績から正確に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出張費・ガソリン代も自動集計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79795" y="2002155"/>
            <a:ext cx="5779770" cy="36195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1168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AA5B1"/>
                </a:solidFill>
                <a:latin typeface="Hiragino Kaku Gothic ProN"/>
              </a:rPr>
              <a:t>日次管理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日報一覧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62895" y="329184"/>
            <a:ext cx="1417320" cy="384048"/>
          </a:xfrm>
          <a:prstGeom prst="rect">
            <a:avLst/>
          </a:prstGeom>
          <a:solidFill>
            <a:srgbClr val="0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2895" y="365760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6C755"/>
                </a:solidFill>
                <a:latin typeface="Hiragino Kaku Gothic ProN"/>
              </a:rPr>
              <a:t>✓ 本番稼働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56070"/>
                </a:solidFill>
                <a:latin typeface="Hiragino Kaku Gothic ProN"/>
              </a:rPr>
              <a:t>届いた日報を一元管理。人件費は自動計算。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人件費の自動計算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日当/時間給・残業・深夜・日曜割増を自動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LINE通知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未通知の日報をワンクリックで通知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経費内訳の確認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車両・電車・宿泊・その他まで明細で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作業員フィルタ・月ナビ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79795" y="2002155"/>
            <a:ext cx="5779770" cy="36195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8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1168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AA5B1"/>
                </a:solidFill>
                <a:latin typeface="Hiragino Kaku Gothic ProN"/>
              </a:rPr>
              <a:t>日次管理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現場別集計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62895" y="329184"/>
            <a:ext cx="1417320" cy="384048"/>
          </a:xfrm>
          <a:prstGeom prst="rect">
            <a:avLst/>
          </a:prstGeom>
          <a:solidFill>
            <a:srgbClr val="0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2895" y="365760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6C755"/>
                </a:solidFill>
                <a:latin typeface="Hiragino Kaku Gothic ProN"/>
              </a:rPr>
              <a:t>✓ 本番稼働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56070"/>
                </a:solidFill>
                <a:latin typeface="Hiragino Kaku Gothic ProN"/>
              </a:rPr>
              <a:t>現場ごとの人工・経費・請求をまとめて。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現場タブで横断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五十音順で全現場を切り替え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CSV＋見積書PDFでエクスポート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期間指定（当月/範囲/全期間）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作業員別・経費別の明細ドロワー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月計・年計の集計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79795" y="2002155"/>
            <a:ext cx="5779770" cy="36195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7-site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1168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AA5B1"/>
                </a:solidFill>
                <a:latin typeface="Hiragino Kaku Gothic ProN"/>
              </a:rPr>
              <a:t>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工程管理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62895" y="329184"/>
            <a:ext cx="1417320" cy="384048"/>
          </a:xfrm>
          <a:prstGeom prst="rect">
            <a:avLst/>
          </a:prstGeom>
          <a:solidFill>
            <a:srgbClr val="0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2895" y="365760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6C755"/>
                </a:solidFill>
                <a:latin typeface="Hiragino Kaku Gothic ProN"/>
              </a:rPr>
              <a:t>✓ 本番稼働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56070"/>
                </a:solidFill>
                <a:latin typeface="Hiragino Kaku Gothic ProN"/>
              </a:rPr>
              <a:t>複数現場の工程を、エクセル風ガントで統合。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全現場横断ビュー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カレンダー軸で納期を可視化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並び替え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現場別/担当別/開始日順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工種で色分け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日中/夜間/家具などを一目で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契約金額・現場管理者・メモ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1現場に複数工程(1:n)も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79795" y="2002155"/>
            <a:ext cx="5779770" cy="36195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1168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AA5B1"/>
                </a:solidFill>
                <a:latin typeface="Hiragino Kaku Gothic ProN"/>
              </a:rPr>
              <a:t>見積・発注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見積もり（作成〜発注）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62895" y="329184"/>
            <a:ext cx="1417320" cy="384048"/>
          </a:xfrm>
          <a:prstGeom prst="rect">
            <a:avLst/>
          </a:prstGeom>
          <a:solidFill>
            <a:srgbClr val="0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2895" y="365760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6C755"/>
                </a:solidFill>
                <a:latin typeface="Hiragino Kaku Gothic ProN"/>
              </a:rPr>
              <a:t>✓ 本番稼働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56070"/>
                </a:solidFill>
                <a:latin typeface="Hiragino Kaku Gothic ProN"/>
              </a:rPr>
              <a:t>明細を組んで見積書、そのまま商社へ発注。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見積ビルダー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場所・工種・品名・単価で明細を作成→PDF発行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受注で現場化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見積→現場へ昇華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商社へ発注書を自動生成・メール送信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マスタ連携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材料・工種・単価・法定福利費・消費税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79795" y="2002155"/>
            <a:ext cx="5779770" cy="36195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-estimate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1168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AA5B1"/>
                </a:solidFill>
                <a:latin typeface="Hiragino Kaku Gothic ProN"/>
              </a:rPr>
              <a:t>見積・発注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注文書発行・承諾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62895" y="329184"/>
            <a:ext cx="1417320" cy="384048"/>
          </a:xfrm>
          <a:prstGeom prst="rect">
            <a:avLst/>
          </a:prstGeom>
          <a:solidFill>
            <a:srgbClr val="0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2895" y="365760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6C755"/>
                </a:solidFill>
                <a:latin typeface="Hiragino Kaku Gothic ProN"/>
              </a:rPr>
              <a:t>✓ 本番稼働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56070"/>
                </a:solidFill>
                <a:latin typeface="Hiragino Kaku Gothic ProN"/>
              </a:rPr>
              <a:t>業者がリンクで承諾。署名証跡まで残る。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注文書をメール送信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業者は承諾用リンクで署名・同意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変更注文書の再承諾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金額増減を再依頼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請求依頼まで一気通貫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承諾済みに請求フォームURLを送付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承諾の証跡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署名画像・IP・PDFハッシュを保存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79795" y="2002155"/>
            <a:ext cx="5779770" cy="36195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5-purchase-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1168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AA5B1"/>
                </a:solidFill>
                <a:latin typeface="Hiragino Kaku Gothic ProN"/>
              </a:rPr>
              <a:t>経費・請求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協力業者請求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62895" y="329184"/>
            <a:ext cx="1417320" cy="384048"/>
          </a:xfrm>
          <a:prstGeom prst="rect">
            <a:avLst/>
          </a:prstGeom>
          <a:solidFill>
            <a:srgbClr val="0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2895" y="365760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6C755"/>
                </a:solidFill>
                <a:latin typeface="Hiragino Kaku Gothic ProN"/>
              </a:rPr>
              <a:t>✓ 本番稼働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56070"/>
                </a:solidFill>
                <a:latin typeface="Hiragino Kaku Gothic ProN"/>
              </a:rPr>
              <a:t>下請けの請求を受領・管理。AIで自動入力。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請求書PDFをAI解析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業者名・請求日・金額・明細を自動抽出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注文書残額と照合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超過を自動で弾く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支払期限・支払状況の管理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未払い/支払い済みタブ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明細ごとの領収書添付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79795" y="2002155"/>
            <a:ext cx="5779770" cy="36195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-subcontractor-invo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1168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AA5B1"/>
                </a:solidFill>
                <a:latin typeface="Hiragino Kaku Gothic ProN"/>
              </a:rPr>
              <a:t>経費・原価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ガソリン按分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62895" y="329184"/>
            <a:ext cx="1417320" cy="384048"/>
          </a:xfrm>
          <a:prstGeom prst="rect">
            <a:avLst/>
          </a:prstGeom>
          <a:solidFill>
            <a:srgbClr val="0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2895" y="365760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6C755"/>
                </a:solidFill>
                <a:latin typeface="Hiragino Kaku Gothic ProN"/>
              </a:rPr>
              <a:t>✓ 本番稼働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56070"/>
                </a:solidFill>
                <a:latin typeface="Hiragino Kaku Gothic ProN"/>
              </a:rPr>
              <a:t>燃料代を、現場の走行距離比で配賦。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月次実費を自動集計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日報の「本日のガソリン代」から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走行距離も自動集計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日報の車両経費から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見込み vs 実績 vs 差異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並べて確認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手動上書き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集計が実態と合わない時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79795" y="2002155"/>
            <a:ext cx="5779770" cy="36195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9-gaso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1168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AA5B1"/>
                </a:solidFill>
                <a:latin typeface="Hiragino Kaku Gothic ProN"/>
              </a:rPr>
              <a:t>勤怠・労務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出面・勤怠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62895" y="329184"/>
            <a:ext cx="1417320" cy="384048"/>
          </a:xfrm>
          <a:prstGeom prst="rect">
            <a:avLst/>
          </a:prstGeom>
          <a:solidFill>
            <a:srgbClr val="0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2895" y="365760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6C755"/>
                </a:solidFill>
                <a:latin typeface="Hiragino Kaku Gothic ProN"/>
              </a:rPr>
              <a:t>✓ 本番稼働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56070"/>
                </a:solidFill>
                <a:latin typeface="Hiragino Kaku Gothic ProN"/>
              </a:rPr>
              <a:t>勤務時間と人件費を、給与計算用に集計。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時間帯別の集計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通常・残業・深夜・日曜・休日を正確に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サマリーカード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稼働日数・休み・出張日数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人件費の表示/非表示トグル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PDF出力（印刷版）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79795" y="2002155"/>
            <a:ext cx="5779770" cy="36195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0-worker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1168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AA5B1"/>
                </a:solidFill>
                <a:latin typeface="Hiragino Kaku Gothic ProN"/>
              </a:rPr>
              <a:t>マスタ管理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作業員マスタ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62895" y="329184"/>
            <a:ext cx="1417320" cy="384048"/>
          </a:xfrm>
          <a:prstGeom prst="rect">
            <a:avLst/>
          </a:prstGeom>
          <a:solidFill>
            <a:srgbClr val="0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2895" y="365760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6C755"/>
                </a:solidFill>
                <a:latin typeface="Hiragino Kaku Gothic ProN"/>
              </a:rPr>
              <a:t>✓ 本番稼働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56070"/>
                </a:solidFill>
                <a:latin typeface="Hiragino Kaku Gothic ProN"/>
              </a:rPr>
              <a:t>職員情報・賃金・履歴を一元管理。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昇給履歴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発効日付きで過去日報も正しく計算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雇用形態・週所定日数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正社員/パート/業務委託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家族構成・車検・健診履歴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ログイン認証（email/pass）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作業員ごとに設定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79795" y="2002155"/>
            <a:ext cx="5779770" cy="36195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1-wor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1168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AA5B1"/>
                </a:solidFill>
                <a:latin typeface="Hiragino Kaku Gothic ProN"/>
              </a:rPr>
              <a:t>勤怠・労務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有給管理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62895" y="329184"/>
            <a:ext cx="1417320" cy="384048"/>
          </a:xfrm>
          <a:prstGeom prst="rect">
            <a:avLst/>
          </a:prstGeom>
          <a:solidFill>
            <a:srgbClr val="0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2895" y="365760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6C755"/>
                </a:solidFill>
                <a:latin typeface="Hiragino Kaku Gothic ProN"/>
              </a:rPr>
              <a:t>✓ 本番稼働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56070"/>
                </a:solidFill>
                <a:latin typeface="Hiragino Kaku Gothic ProN"/>
              </a:rPr>
              <a:t>法定5日取得義務まで、まとめて管理。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付与・使用・残日数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作業員別サマリー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法定5日義務の達成度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コンプライアンス対応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付与歴（発効日・理由・日数）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管理簿の印刷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79795" y="2002155"/>
            <a:ext cx="5779770" cy="36195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2-paid-le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1168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AA5B1"/>
                </a:solidFill>
                <a:latin typeface="Hiragino Kaku Gothic ProN"/>
              </a:rPr>
              <a:t>作業員アプリ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LINE 日報アプリ（LIFF）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62895" y="329184"/>
            <a:ext cx="1417320" cy="384048"/>
          </a:xfrm>
          <a:prstGeom prst="rect">
            <a:avLst/>
          </a:prstGeom>
          <a:solidFill>
            <a:srgbClr val="0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2895" y="365760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6C755"/>
                </a:solidFill>
                <a:latin typeface="Hiragino Kaku Gothic ProN"/>
              </a:rPr>
              <a:t>✓ 本番稼働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56070"/>
                </a:solidFill>
                <a:latin typeface="Hiragino Kaku Gothic ProN"/>
              </a:rPr>
              <a:t>アプリ不要。LINEだけで現場が完結。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LINE日報入力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稼働区分→現場→経費→送信。複数現場を1日でまとめて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領収書AI自動入力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撮るだけで支払先・金額・インボイス番号を抽出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経費の複数明細・個人立替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宿泊/駐車/高速/電車を明細ごと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下書き自動保存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中断しても画像ごと復元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出退勤チェックイン(QR)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安全ルール同意・GPS証跡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500" b="1">
                <a:solidFill>
                  <a:srgbClr val="1A1A1A"/>
                </a:solidFill>
                <a:latin typeface="Hiragino Kaku Gothic ProN"/>
              </a:rPr>
              <a:t>代理入力</a:t>
            </a:r>
            <a:r>
              <a:rPr sz="1300" b="0">
                <a:solidFill>
                  <a:srgbClr val="556070"/>
                </a:solidFill>
                <a:latin typeface="Hiragino Kaku Gothic ProN"/>
              </a:rPr>
              <a:t>  LINEを持たない職人の分も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2011680"/>
            <a:ext cx="5760720" cy="310896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2011680"/>
            <a:ext cx="57607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56070"/>
                </a:solidFill>
                <a:latin typeface="Hiragino Kaku Gothic ProN"/>
              </a:rPr>
              <a:t>（画面キャプチャ）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AA5B1"/>
                </a:solidFill>
                <a:latin typeface="Hiragino Kaku Gothic ProN"/>
              </a:rPr>
              <a:t>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Hiragino Kaku Gothic ProN"/>
              </a:rPr>
              <a:t>裏側で自動で動く仕組み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62895" y="329184"/>
            <a:ext cx="1417320" cy="384048"/>
          </a:xfrm>
          <a:prstGeom prst="rect">
            <a:avLst/>
          </a:prstGeom>
          <a:solidFill>
            <a:srgbClr val="0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2895" y="365760"/>
            <a:ext cx="1417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6C755"/>
                </a:solidFill>
                <a:latin typeface="Hiragino Kaku Gothic ProN"/>
              </a:rPr>
              <a:t>✓ 本番稼働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56070"/>
                </a:solidFill>
                <a:latin typeface="Hiragino Kaku Gothic ProN"/>
              </a:rPr>
              <a:t>人手をかけずに、通知・解析・送信が回り続ける。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600" b="1">
                <a:solidFill>
                  <a:srgbClr val="1A1A1A"/>
                </a:solidFill>
                <a:latin typeface="Hiragino Kaku Gothic ProN"/>
              </a:rPr>
              <a:t>日報未送信リマインド</a:t>
            </a:r>
            <a:r>
              <a:rPr sz="1400" b="0">
                <a:solidFill>
                  <a:srgbClr val="556070"/>
                </a:solidFill>
                <a:latin typeface="Hiragino Kaku Gothic ProN"/>
              </a:rPr>
              <a:t>  設定時刻に未送信者を検知しLINE個人通知（会社単位で時刻/対象/ON-OFF）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600" b="1">
                <a:solidFill>
                  <a:srgbClr val="1A1A1A"/>
                </a:solidFill>
                <a:latin typeface="Hiragino Kaku Gothic ProN"/>
              </a:rPr>
              <a:t>車検期日リマインド</a:t>
            </a:r>
            <a:r>
              <a:rPr sz="1400" b="0">
                <a:solidFill>
                  <a:srgbClr val="556070"/>
                </a:solidFill>
                <a:latin typeface="Hiragino Kaku Gothic ProN"/>
              </a:rPr>
              <a:t>  車検が近い車両を週次で検知して通知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600" b="1">
                <a:solidFill>
                  <a:srgbClr val="1A1A1A"/>
                </a:solidFill>
                <a:latin typeface="Hiragino Kaku Gothic ProN"/>
              </a:rPr>
              <a:t>領収書・請求書・価格表のAI解析</a:t>
            </a:r>
            <a:r>
              <a:rPr sz="1400" b="0">
                <a:solidFill>
                  <a:srgbClr val="556070"/>
                </a:solidFill>
                <a:latin typeface="Hiragino Kaku Gothic ProN"/>
              </a:rPr>
              <a:t>  撮影/PDFから自動抽出。価格表は単価マスタへ（承認制）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600" b="1">
                <a:solidFill>
                  <a:srgbClr val="1A1A1A"/>
                </a:solidFill>
                <a:latin typeface="Hiragino Kaku Gothic ProN"/>
              </a:rPr>
              <a:t>各種メール自動送信</a:t>
            </a:r>
            <a:r>
              <a:rPr sz="1400" b="0">
                <a:solidFill>
                  <a:srgbClr val="556070"/>
                </a:solidFill>
                <a:latin typeface="Hiragino Kaku Gothic ProN"/>
              </a:rPr>
              <a:t>  見積・注文書・変更注文・請求依頼・業者登録・経費申請PDF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600" b="1">
                <a:solidFill>
                  <a:srgbClr val="1A1A1A"/>
                </a:solidFill>
                <a:latin typeface="Hiragino Kaku Gothic ProN"/>
              </a:rPr>
              <a:t>下請けポータル</a:t>
            </a:r>
            <a:r>
              <a:rPr sz="1400" b="0">
                <a:solidFill>
                  <a:srgbClr val="556070"/>
                </a:solidFill>
                <a:latin typeface="Hiragino Kaku Gothic ProN"/>
              </a:rPr>
              <a:t>  業者がログイン不要のリンクで承諾・請求・見積アップロード（署名証跡）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6C755"/>
                </a:solidFill>
                <a:latin typeface="Hiragino Kaku Gothic ProN"/>
              </a:rPr>
              <a:t>● </a:t>
            </a:r>
            <a:r>
              <a:rPr sz="1600" b="1">
                <a:solidFill>
                  <a:srgbClr val="1A1A1A"/>
                </a:solidFill>
                <a:latin typeface="Hiragino Kaku Gothic ProN"/>
              </a:rPr>
              <a:t>マルチテナント運用基盤</a:t>
            </a:r>
            <a:r>
              <a:rPr sz="1400" b="0">
                <a:solidFill>
                  <a:srgbClr val="556070"/>
                </a:solidFill>
                <a:latin typeface="Hiragino Kaku Gothic ProN"/>
              </a:rPr>
              <a:t>  会社（テナント）単位で通知・設定を分離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6C755"/>
                </a:solidFill>
                <a:latin typeface="Hiragino Kaku Gothic ProN"/>
              </a:rPr>
              <a:t>GENLINKS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Hiragino Kaku Gothic ProN"/>
              </a:rPr>
              <a:t>掲載した機能は、すべて実機のソースコードで実装・配線を確認済み。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C2CBD6"/>
                </a:solidFill>
                <a:latin typeface="Hiragino Kaku Gothic ProN"/>
              </a:rPr>
              <a:t>admin 30画面・LINE日報フロー全体・バックエンド23本を監査。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C2CBD6"/>
                </a:solidFill>
                <a:latin typeface="Hiragino Kaku Gothic ProN"/>
              </a:rPr>
              <a:t>構想中・未実装の項目は載せていません（盛らない方針）。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95A1"/>
                </a:solidFill>
                <a:latin typeface="Hiragino Kaku Gothic ProN"/>
              </a:rPr>
              <a:t>2026-06-28 時点 ｜ 画面キャプチャはローカル環境（デモデータは適宜差し替え）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